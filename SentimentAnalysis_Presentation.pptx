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05840"/>
            <a:ext cx="8412480" cy="2743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28600"/>
            <a:ext cx="2926080" cy="475488"/>
          </a:xfrm>
          <a:prstGeom prst="roundRect">
            <a:avLst>
              <a:gd name="adj" fmla="val 15385"/>
            </a:avLst>
          </a:prstGeom>
          <a:solidFill>
            <a:srgbClr val="0A7A84"/>
          </a:solidFill>
          <a:ln w="12700">
            <a:solidFill>
              <a:srgbClr val="0A7A8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2860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CSC464 · Deep Learning &amp;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Enhancing Sentiment Analysis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Transformer Models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B0BEC5"/>
                </a:solidFill>
              </a:rPr>
              <a:t>A Comparison with Traditional Approaches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3429000"/>
            <a:ext cx="8412480" cy="27432"/>
          </a:xfrm>
          <a:prstGeom prst="rect">
            <a:avLst/>
          </a:prstGeom>
          <a:solidFill>
            <a:srgbClr val="0A7A84"/>
          </a:solidFill>
          <a:ln w="12700">
            <a:solidFill>
              <a:srgbClr val="0A7A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566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Rim Serhan  ·  Mohamad Jawad Allouche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9319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</a:rPr>
              <a:t>Lebanese American University  |  Dr. Ahmad Audi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132320" y="365760"/>
            <a:ext cx="1828800" cy="1828800"/>
          </a:xfrm>
          <a:prstGeom prst="ellipse">
            <a:avLst/>
          </a:prstGeom>
          <a:solidFill>
            <a:srgbClr val="0E9AA7">
              <a:alpha val="20000"/>
            </a:srgbClr>
          </a:solidFill>
          <a:ln w="12700">
            <a:solidFill>
              <a:srgbClr val="0E9AA7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0" y="1371600"/>
            <a:ext cx="1280160" cy="1280160"/>
          </a:xfrm>
          <a:prstGeom prst="ellipse">
            <a:avLst/>
          </a:prstGeom>
          <a:solidFill>
            <a:srgbClr val="0A7A84">
              <a:alpha val="25000"/>
            </a:srgbClr>
          </a:solidFill>
          <a:ln w="12700">
            <a:solidFill>
              <a:srgbClr val="0A7A84">
                <a:alpha val="3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869680" y="0"/>
            <a:ext cx="274320" cy="9144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4300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F0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502920" cy="100584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4300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1234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</a:rPr>
              <a:t>Introduction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61848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Sentiment analysis &amp; project motivation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F0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331720"/>
            <a:ext cx="502920" cy="100584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33172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2423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</a:rPr>
              <a:t>Dataset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280720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IMDB Movie Reviews — 50K labeled samples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52044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F0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520440"/>
            <a:ext cx="502920" cy="100584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52044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3611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</a:rPr>
              <a:t>Preprocessing &amp; Models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399592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TF-IDF + Logistic Regression vs. BERT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114300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F0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1143000"/>
            <a:ext cx="502920" cy="100584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14300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40680" y="1234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</a:rPr>
              <a:t>Training &amp; Evaluation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40680" y="161848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Metrics: Accuracy, F1, Precision, Recall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233172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F0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2331720"/>
            <a:ext cx="502920" cy="100584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33172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440680" y="2423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</a:rPr>
              <a:t>Results &amp; Discussion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40680" y="280720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Performance comparison &amp; confusion matrix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352044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F0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3520440"/>
            <a:ext cx="502920" cy="100584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52044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440680" y="3611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</a:rPr>
              <a:t>Conclusion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440680" y="399592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Key takeaways &amp; future directions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Introduction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869680" y="0"/>
            <a:ext cx="274320" cy="9144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41148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F0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4114800" cy="4572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515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What is Sentiment Analysis?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</a:rPr>
              <a:t>Identifies emotional tone in text (positive / negative)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</a:rPr>
              <a:t>Applications: customer reviews, social media, product feedback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</a:rPr>
              <a:t>Helps organizations understand user perspectives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</a:rPr>
              <a:t>Enables data-driven decisions at scale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41148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F0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51560"/>
            <a:ext cx="411480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0515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Project Objective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6459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</a:rPr>
              <a:t>Compare performance of: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2057400"/>
            <a:ext cx="3566160" cy="7772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F0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0" y="2057400"/>
            <a:ext cx="54864" cy="77724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2103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7A84"/>
                </a:solidFill>
              </a:rPr>
              <a:t>Traditional ML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24414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Logistic Regression + TF-IDF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3063240"/>
            <a:ext cx="3566160" cy="7772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F0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3063240"/>
            <a:ext cx="54864" cy="77724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3108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7A84"/>
                </a:solidFill>
              </a:rPr>
              <a:t>Transformer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34472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BERT (bidirectional context)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41605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2332"/>
                </a:solidFill>
              </a:rPr>
              <a:t>Goal: Highlight strengths of modern NLP techniques over traditional methods on consistent benchmarks.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Dataset — IMDB Movie Reviews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869680" y="0"/>
            <a:ext cx="274320" cy="9144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256032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972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9AA7"/>
                </a:solidFill>
              </a:rPr>
              <a:t>50,000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1737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Total Reviews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057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25K train + 25K test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051560"/>
            <a:ext cx="256032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10972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9AA7"/>
                </a:solidFill>
              </a:rPr>
              <a:t>50 / 50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200400" y="1737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Class Balance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2057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Positive vs. Negative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1051560"/>
            <a:ext cx="256032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35040" y="10972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9AA7"/>
                </a:solidFill>
              </a:rPr>
              <a:t>Subset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035040" y="1737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Used for Training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35040" y="2057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Reduces compute time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606040"/>
            <a:ext cx="84124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F0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274320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</a:rPr>
              <a:t>Widely used NLP benchmark — reliable for binary sentiment classification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</a:rPr>
              <a:t>Each entry contains a textual movie review + label (1 = positive, 0 = negative)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</a:rPr>
              <a:t>Balanced structure ensures models are not biased toward a particular class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</a:rPr>
              <a:t>Subset selected while preserving original class balance — fair comparison maintained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Preprocessing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869680" y="0"/>
            <a:ext cx="274320" cy="9144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8412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225296"/>
            <a:ext cx="548640" cy="54864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252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188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</a:rPr>
              <a:t>Lowercasing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508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Normalize text — "Good" and "good" treated as same token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8412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185416"/>
            <a:ext cx="548640" cy="54864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1854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2148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</a:rPr>
              <a:t>Tokenization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24688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BERT tokenizer for transformer; word splitting for traditional model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017520"/>
            <a:ext cx="8412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145536"/>
            <a:ext cx="548640" cy="54864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1455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3108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</a:rPr>
              <a:t>Stopwords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34290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Kept for BERT (context matters). Optionally removed for Logistic Regression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977640"/>
            <a:ext cx="8412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" y="4105656"/>
            <a:ext cx="548640" cy="54864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1056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34440" y="4069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</a:rPr>
              <a:t>TF-IDF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43891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Converts text to numeric vectors for Logistic Regression (word importance weights)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Models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869680" y="0"/>
            <a:ext cx="274320" cy="9144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41148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F0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4114800" cy="5029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515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Logistic Regression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15544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90D9"/>
                </a:solidFill>
              </a:rPr>
              <a:t>Baseline Model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</a:rPr>
              <a:t>Binary classification algorithm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</a:rPr>
              <a:t>Input: TF-IDF vectorized features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</a:rPr>
              <a:t>Simple, efficient, low compute cost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</a:rPr>
              <a:t>Treats words independently (no context)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</a:rPr>
              <a:t>Serves as reference point for comparison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41148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F0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51560"/>
            <a:ext cx="4114800" cy="5029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0515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BERT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63440" y="15544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A7A84"/>
                </a:solidFill>
              </a:rPr>
              <a:t>Transformer Model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192024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</a:rPr>
              <a:t>Bidirectional Encoder Representations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</a:rPr>
              <a:t>Pre-trained — fine-tuned on IMDB subset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</a:rPr>
              <a:t>Bidirectional: reads both left &amp; right context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</a:rPr>
              <a:t>Classification head added on top of BERT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</a:rPr>
              <a:t>Captures complex semantic relationships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Training &amp; Evaluation Metrics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869680" y="0"/>
            <a:ext cx="274320" cy="9144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41148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F0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411480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515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Training Process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</a:rPr>
              <a:t>Same dataset split used for both models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</a:rPr>
              <a:t>LR: fit on TF-IDF features — fast, low resource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</a:rPr>
              <a:t>BERT: tokenize → encode → fine-tune weights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</a:rPr>
              <a:t>BERT trained for 1 epoch (compute limits)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</a:rPr>
              <a:t>Tools: scikit-learn (LR), HuggingFace Trainer (BERT)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51560"/>
            <a:ext cx="73152" cy="77724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124712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</a:rPr>
              <a:t>Accuracy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Proportion of all correct predictions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96596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965960"/>
            <a:ext cx="73152" cy="7772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2039112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</a:rPr>
              <a:t>Precision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2377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Correct positives out of all predicted positive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288036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880360"/>
            <a:ext cx="73152" cy="77724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953512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</a:rPr>
              <a:t>Recall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3291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Correct positives out of all actual positives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379476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3794760"/>
            <a:ext cx="73152" cy="7772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3867912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</a:rPr>
              <a:t>F1-Score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Harmonic mean of Precision &amp; Recall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Results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869680" y="0"/>
            <a:ext cx="274320" cy="9144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1645920"/>
        </p:xfrm>
        <a:graphic>
          <a:graphicData uri="http://schemas.openxmlformats.org/drawingml/2006/table">
            <a:tbl>
              <a:tblPr/>
              <a:tblGrid>
                <a:gridCol w="2286000"/>
                <a:gridCol w="1485900"/>
                <a:gridCol w="1485900"/>
                <a:gridCol w="1485900"/>
                <a:gridCol w="14859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F1-Score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</a:rPr>
                        <a:t>Logistic Regression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A90D9"/>
                          </a:solidFill>
                        </a:rPr>
                        <a:t>0.850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A90D9"/>
                          </a:solidFill>
                        </a:rPr>
                        <a:t>0.860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0BEC5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0BEC5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2332"/>
                          </a:solidFill>
                        </a:rPr>
                        <a:t>BERT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7A84"/>
                          </a:solidFill>
                        </a:rPr>
                        <a:t>0.9155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7A84"/>
                          </a:solidFill>
                        </a:rPr>
                        <a:t>0.9162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7A84"/>
                          </a:solidFill>
                        </a:rPr>
                        <a:t>0.9086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7A84"/>
                          </a:solidFill>
                        </a:rPr>
                        <a:t>0.9240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2971800"/>
            <a:ext cx="1828800" cy="12344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30175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9AA7"/>
                </a:solidFill>
              </a:rPr>
              <a:t>+7.7%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57200" y="3566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Accuracy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Gain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560320" y="2971800"/>
            <a:ext cx="1828800" cy="12344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560320" y="30175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9AA7"/>
                </a:solidFill>
              </a:rPr>
              <a:t>+6.5%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2560320" y="3566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F1-Score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Gain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663440" y="2971800"/>
            <a:ext cx="1828800" cy="12344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663440" y="30175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9AA7"/>
                </a:solidFill>
              </a:rPr>
              <a:t>0.908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4663440" y="3566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Precision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(BERT)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766560" y="2971800"/>
            <a:ext cx="1828800" cy="12344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766560" y="30175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9AA7"/>
                </a:solidFill>
              </a:rPr>
              <a:t>0.924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6766560" y="3566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Recall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(BERT)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2332"/>
                </a:solidFill>
              </a:rPr>
              <a:t>BERT significantly outperforms Logistic Regression across all metrics, confirming the advantage of contextual representations.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Confusion Matrix &amp; Discussion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869680" y="0"/>
            <a:ext cx="274320" cy="9144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3840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F0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332"/>
                </a:solidFill>
              </a:rPr>
              <a:t>Confusion Matrix — BERT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1554480" cy="1005840"/>
          </a:xfrm>
          <a:prstGeom prst="rect">
            <a:avLst/>
          </a:prstGeom>
          <a:solidFill>
            <a:srgbClr val="0E9AA7"/>
          </a:solidFill>
          <a:ln w="12700">
            <a:solidFill>
              <a:srgbClr val="0A7A8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5448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True Positive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 High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0" y="1554480"/>
            <a:ext cx="1554480" cy="1005840"/>
          </a:xfrm>
          <a:prstGeom prst="rect">
            <a:avLst/>
          </a:prstGeom>
          <a:solidFill>
            <a:srgbClr val="F8D7DA"/>
          </a:solidFill>
          <a:ln w="12700">
            <a:solidFill>
              <a:srgbClr val="F5C6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155448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21C24"/>
                </a:solidFill>
              </a:rPr>
              <a:t>False Positive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721C24"/>
                </a:solidFill>
              </a:rPr>
              <a:t>✗ 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651760"/>
            <a:ext cx="1554480" cy="1005840"/>
          </a:xfrm>
          <a:prstGeom prst="rect">
            <a:avLst/>
          </a:prstGeom>
          <a:solidFill>
            <a:srgbClr val="F8D7DA"/>
          </a:solidFill>
          <a:ln w="12700">
            <a:solidFill>
              <a:srgbClr val="F5C6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65176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21C24"/>
                </a:solidFill>
              </a:rPr>
              <a:t>False Negative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721C24"/>
                </a:solidFill>
              </a:rPr>
              <a:t>✗ Low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286000" y="2651760"/>
            <a:ext cx="1554480" cy="1005840"/>
          </a:xfrm>
          <a:prstGeom prst="rect">
            <a:avLst/>
          </a:prstGeom>
          <a:solidFill>
            <a:srgbClr val="0E9AA7"/>
          </a:solidFill>
          <a:ln w="12700">
            <a:solidFill>
              <a:srgbClr val="0A7A8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0" y="265176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True Negative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 High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749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Predicted →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41148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A7A84"/>
                </a:solidFill>
              </a:rPr>
              <a:t>Correctly classifies majority of both positive &amp; negative reviews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480560" y="1097280"/>
            <a:ext cx="42976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F0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480560" y="1097280"/>
            <a:ext cx="4297680" cy="41148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0" y="10972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Key Discussion Points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63440" y="1600200"/>
            <a:ext cx="39319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</a:rPr>
              <a:t>LR treats words independently — misses negation, sarcasm, context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</a:rPr>
              <a:t>BERT's bidirectional attention captures richer semantic meaning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</a:rPr>
              <a:t>Balanced Precision &amp; Recall in BERT: reliable for both classes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</a:rPr>
              <a:t>Trade-off: BERT requires significantly more compute &amp; training time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</a:rPr>
              <a:t>LSTM was considered but excluded due to time/compute constraints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332"/>
                </a:solidFill>
              </a:rPr>
              <a:t>Subset training may slightly limit generalization potential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0"/>
            <a:ext cx="274320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Conclusion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7772400" cy="2743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62179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08813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BERT outperforms Logistic Regression on all metrics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38074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</a:rPr>
              <a:t>Accuracy: 91.6% vs 85.0% — a clear improvement from contextual modeling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54864" cy="62179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91109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Contextual understanding is key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2037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</a:rPr>
              <a:t>Bidirectional attention captures nuance that bag-of-words approaches miss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697480"/>
            <a:ext cx="54864" cy="62179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73405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Performance vs. efficiency trade-off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302666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</a:rPr>
              <a:t>LR is lightweight; BERT is powerful but compute-intensive — choose wisely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54864" cy="62179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5570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Future directions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384962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</a:rPr>
              <a:t>Train on full dataset, tune hyperparameters, explore DistilBERT for efficiency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4480560"/>
            <a:ext cx="7772400" cy="27432"/>
          </a:xfrm>
          <a:prstGeom prst="rect">
            <a:avLst/>
          </a:prstGeom>
          <a:solidFill>
            <a:srgbClr val="0A7A84"/>
          </a:solidFill>
          <a:ln w="12700">
            <a:solidFill>
              <a:srgbClr val="0A7A8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5720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AA7"/>
                </a:solidFill>
              </a:rPr>
              <a:t>Thank You  ·  Questions Welcome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Enhancing Sentiment Analysis with Transformer Models</dc:title>
  <dc:subject>PptxGenJS Presentation</dc:subject>
  <dc:creator>PptxGenJS</dc:creator>
  <cp:lastModifiedBy>PptxGenJS</cp:lastModifiedBy>
  <cp:revision>1</cp:revision>
  <dcterms:created xsi:type="dcterms:W3CDTF">2026-04-14T20:07:24Z</dcterms:created>
  <dcterms:modified xsi:type="dcterms:W3CDTF">2026-04-14T20:07:24Z</dcterms:modified>
</cp:coreProperties>
</file>